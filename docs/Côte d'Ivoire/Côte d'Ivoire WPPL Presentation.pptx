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Gill Sans" panose="020B060402020202020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iaRFcTruCGJHRQLmXQOAGtpEznKQ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ADB00B-8FA0-6586-8F23-0EE15727F7BB}" name="Katie Andrzejewski" initials="KA" userId="Katie Andrzejewski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5FECD8-29EC-41E1-997D-B701DC29A0F8}">
  <a:tblStyle styleId="{8D5FECD8-29EC-41E1-997D-B701DC29A0F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7EA"/>
          </a:solidFill>
        </a:fill>
      </a:tcStyle>
    </a:wholeTbl>
    <a:band1H>
      <a:tcTxStyle/>
      <a:tcStyle>
        <a:tcBdr/>
        <a:fill>
          <a:solidFill>
            <a:srgbClr val="CACCD3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CD3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94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Provide brief background on the framework – highlighting what audience needs to know to follow presentation. Can abbreviate further if audience is assumed to be familiar. </a:t>
            </a:r>
            <a:endParaRPr/>
          </a:p>
        </p:txBody>
      </p:sp>
      <p:sp>
        <p:nvSpPr>
          <p:cNvPr id="214" name="Google Shape;21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540cd75bd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540cd75bd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Details include geographic coverage, number of surveyed politicians, number and type of KIIs, number and type of FGDs.</a:t>
            </a:r>
            <a:endParaRPr/>
          </a:p>
        </p:txBody>
      </p:sp>
      <p:sp>
        <p:nvSpPr>
          <p:cNvPr id="221" name="Google Shape;221;g540cd75bd0_0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6209d685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26209d685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g26209d6856c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6209d6856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g26209d6856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7" name="Google Shape;237;g26209d6856c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3" name="Google Shape;24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8" name="Google Shape;248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9b71a431d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g29b71a431dc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6" name="Google Shape;256;g29b71a431dc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9b6a31926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g29b6a31926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5" name="Google Shape;265;g29b6a319265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4" name="Google Shape;274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a9c78ce03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ga9c78ce03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a9c78ce03a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9b6a319265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g29b6a319265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5" name="Google Shape;295;g29b6a319265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" name="Google Shape;3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- Full Red">
  <p:cSld name="Cover - Full Red">
    <p:bg>
      <p:bgPr>
        <a:solidFill>
          <a:srgbClr val="BA0C2F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>
            <a:spLocks noGrp="1"/>
          </p:cNvSpPr>
          <p:nvPr>
            <p:ph type="ctrTitle"/>
          </p:nvPr>
        </p:nvSpPr>
        <p:spPr>
          <a:xfrm>
            <a:off x="685800" y="2133600"/>
            <a:ext cx="776732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  <a:defRPr sz="32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subTitle" idx="1"/>
          </p:nvPr>
        </p:nvSpPr>
        <p:spPr>
          <a:xfrm>
            <a:off x="685800" y="4114800"/>
            <a:ext cx="34290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16" name="Google Shape;16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9760" y="533400"/>
            <a:ext cx="2529051" cy="838200"/>
          </a:xfrm>
          <a:prstGeom prst="rect">
            <a:avLst/>
          </a:prstGeom>
          <a:noFill/>
          <a:ln>
            <a:noFill/>
          </a:ln>
          <a:effectLst>
            <a:outerShdw blurRad="254000" algn="tl" rotWithShape="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Full Red">
  <p:cSld name="1_Divider - Full Red">
    <p:bg>
      <p:bgPr>
        <a:solidFill>
          <a:srgbClr val="BA0C2F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5343" y="5770881"/>
            <a:ext cx="1972398" cy="65370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685800" y="1964511"/>
            <a:ext cx="7772400" cy="353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C6463"/>
              </a:buClr>
              <a:buSzPts val="2000"/>
              <a:buNone/>
              <a:defRPr sz="2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686104" y="1082102"/>
            <a:ext cx="7772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 sz="3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/Gray 1 Content">
  <p:cSld name="1_Red/Gray 1 Content">
    <p:bg>
      <p:bgPr>
        <a:solidFill>
          <a:srgbClr val="E7E7E5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dt" idx="10"/>
          </p:nvPr>
        </p:nvSpPr>
        <p:spPr>
          <a:xfrm>
            <a:off x="1524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ftr" idx="11"/>
          </p:nvPr>
        </p:nvSpPr>
        <p:spPr>
          <a:xfrm>
            <a:off x="3124200" y="6530079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68580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685800" y="1300480"/>
            <a:ext cx="7772096" cy="490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2"/>
          </p:nvPr>
        </p:nvSpPr>
        <p:spPr>
          <a:xfrm>
            <a:off x="685800" y="869058"/>
            <a:ext cx="7772096" cy="502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800">
                <a:solidFill>
                  <a:srgbClr val="BA0A3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/Gray 1 Content + Right Photo">
  <p:cSld name="Red/Gray 1 Content + Right Photo">
    <p:bg>
      <p:bgPr>
        <a:solidFill>
          <a:srgbClr val="E7E7E5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>
            <a:spLocks noGrp="1"/>
          </p:cNvSpPr>
          <p:nvPr>
            <p:ph type="pic" idx="2"/>
          </p:nvPr>
        </p:nvSpPr>
        <p:spPr>
          <a:xfrm>
            <a:off x="4572000" y="152400"/>
            <a:ext cx="4419600" cy="65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543560" y="1300480"/>
            <a:ext cx="3652520" cy="490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543864" y="848420"/>
            <a:ext cx="365252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>
                <a:solidFill>
                  <a:srgbClr val="BA0C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Full Red" type="titleOnly">
  <p:cSld name="TITLE_ONLY">
    <p:bg>
      <p:bgPr>
        <a:solidFill>
          <a:srgbClr val="BA0C2F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1143000" y="827782"/>
            <a:ext cx="54864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  <a:defRPr sz="3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1524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3124200" y="6530079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68580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" name="Google Shape;36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2285" y="5943600"/>
            <a:ext cx="15240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/Gray 1 Content + Bottom Photo">
  <p:cSld name="Red/Gray 1 Content + Bottom Photo">
    <p:bg>
      <p:bgPr>
        <a:solidFill>
          <a:srgbClr val="E7E7E5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>
            <a:spLocks noGrp="1"/>
          </p:cNvSpPr>
          <p:nvPr>
            <p:ph type="pic" idx="2"/>
          </p:nvPr>
        </p:nvSpPr>
        <p:spPr>
          <a:xfrm>
            <a:off x="152400" y="3429000"/>
            <a:ext cx="8839200" cy="3276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9" name="Google Shape;39;p9"/>
          <p:cNvSpPr txBox="1">
            <a:spLocks noGrp="1"/>
          </p:cNvSpPr>
          <p:nvPr>
            <p:ph type="body" idx="1"/>
          </p:nvPr>
        </p:nvSpPr>
        <p:spPr>
          <a:xfrm rot="-5400000">
            <a:off x="7527667" y="47082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85800" y="1300480"/>
            <a:ext cx="7772096" cy="188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85800" y="869058"/>
            <a:ext cx="7772096" cy="502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800">
                <a:solidFill>
                  <a:srgbClr val="BA0A3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- Full Red">
  <p:cSld name="1_Cover - Full Red">
    <p:bg>
      <p:bgPr>
        <a:solidFill>
          <a:srgbClr val="BA0C2F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ctrTitle"/>
          </p:nvPr>
        </p:nvSpPr>
        <p:spPr>
          <a:xfrm>
            <a:off x="685800" y="2133600"/>
            <a:ext cx="776732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  <a:defRPr sz="32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ubTitle" idx="1"/>
          </p:nvPr>
        </p:nvSpPr>
        <p:spPr>
          <a:xfrm>
            <a:off x="685800" y="4114800"/>
            <a:ext cx="34290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45" name="Google Shape;45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9760" y="533400"/>
            <a:ext cx="2529051" cy="838200"/>
          </a:xfrm>
          <a:prstGeom prst="rect">
            <a:avLst/>
          </a:prstGeom>
          <a:noFill/>
          <a:ln>
            <a:noFill/>
          </a:ln>
          <a:effectLst>
            <a:outerShdw blurRad="254000" algn="tl" rotWithShape="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/White 1 Content + Bottom Photo">
  <p:cSld name="Red/White 1 Content + Bottom Photo">
    <p:bg>
      <p:bgPr>
        <a:solidFill>
          <a:schemeClr val="lt1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"/>
          <p:cNvSpPr txBox="1">
            <a:spLocks noGrp="1"/>
          </p:cNvSpPr>
          <p:nvPr>
            <p:ph type="body" idx="1"/>
          </p:nvPr>
        </p:nvSpPr>
        <p:spPr>
          <a:xfrm>
            <a:off x="685800" y="1300479"/>
            <a:ext cx="7772400" cy="487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title"/>
          </p:nvPr>
        </p:nvSpPr>
        <p:spPr>
          <a:xfrm>
            <a:off x="686104" y="848420"/>
            <a:ext cx="77724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>
                <a:solidFill>
                  <a:srgbClr val="BA0C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/Gray 3 Content">
  <p:cSld name="Red/Gray 3 Content">
    <p:bg>
      <p:bgPr>
        <a:solidFill>
          <a:srgbClr val="E7E7E5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>
            <a:spLocks noGrp="1"/>
          </p:cNvSpPr>
          <p:nvPr>
            <p:ph type="body" idx="1"/>
          </p:nvPr>
        </p:nvSpPr>
        <p:spPr>
          <a:xfrm>
            <a:off x="685800" y="1300480"/>
            <a:ext cx="2514296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body" idx="2"/>
          </p:nvPr>
        </p:nvSpPr>
        <p:spPr>
          <a:xfrm>
            <a:off x="3307080" y="1300480"/>
            <a:ext cx="2514296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body" idx="3"/>
          </p:nvPr>
        </p:nvSpPr>
        <p:spPr>
          <a:xfrm>
            <a:off x="5938520" y="1300480"/>
            <a:ext cx="2514296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body" idx="4"/>
          </p:nvPr>
        </p:nvSpPr>
        <p:spPr>
          <a:xfrm>
            <a:off x="685800" y="869058"/>
            <a:ext cx="7772096" cy="502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800">
                <a:solidFill>
                  <a:srgbClr val="BA0A3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/Gray Title Only">
  <p:cSld name="Red/Gray Title Only">
    <p:bg>
      <p:bgPr>
        <a:solidFill>
          <a:srgbClr val="E7E7E5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>
            <a:spLocks noGrp="1"/>
          </p:cNvSpPr>
          <p:nvPr>
            <p:ph type="pic" idx="2"/>
          </p:nvPr>
        </p:nvSpPr>
        <p:spPr>
          <a:xfrm>
            <a:off x="152400" y="152400"/>
            <a:ext cx="4419600" cy="65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4851400" y="3177729"/>
            <a:ext cx="3794760" cy="502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800">
                <a:solidFill>
                  <a:srgbClr val="BA0A3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/White 2 Content">
  <p:cSld name="Red/White 2 Content"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1"/>
          <p:cNvSpPr txBox="1">
            <a:spLocks noGrp="1"/>
          </p:cNvSpPr>
          <p:nvPr>
            <p:ph type="body" idx="1"/>
          </p:nvPr>
        </p:nvSpPr>
        <p:spPr>
          <a:xfrm>
            <a:off x="685800" y="1300480"/>
            <a:ext cx="3809696" cy="490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41"/>
          <p:cNvSpPr txBox="1">
            <a:spLocks noGrp="1"/>
          </p:cNvSpPr>
          <p:nvPr>
            <p:ph type="title"/>
          </p:nvPr>
        </p:nvSpPr>
        <p:spPr>
          <a:xfrm>
            <a:off x="686104" y="848420"/>
            <a:ext cx="77724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>
                <a:solidFill>
                  <a:srgbClr val="BA0C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1"/>
          <p:cNvSpPr txBox="1">
            <a:spLocks noGrp="1"/>
          </p:cNvSpPr>
          <p:nvPr>
            <p:ph type="body" idx="2"/>
          </p:nvPr>
        </p:nvSpPr>
        <p:spPr>
          <a:xfrm>
            <a:off x="4638040" y="1300480"/>
            <a:ext cx="3819856" cy="490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/White 3 Content">
  <p:cSld name="Red/White 3 Content"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4"/>
          <p:cNvSpPr txBox="1">
            <a:spLocks noGrp="1"/>
          </p:cNvSpPr>
          <p:nvPr>
            <p:ph type="body" idx="1"/>
          </p:nvPr>
        </p:nvSpPr>
        <p:spPr>
          <a:xfrm>
            <a:off x="685800" y="1300480"/>
            <a:ext cx="2514296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44"/>
          <p:cNvSpPr txBox="1">
            <a:spLocks noGrp="1"/>
          </p:cNvSpPr>
          <p:nvPr>
            <p:ph type="body" idx="2"/>
          </p:nvPr>
        </p:nvSpPr>
        <p:spPr>
          <a:xfrm>
            <a:off x="3307080" y="1300480"/>
            <a:ext cx="2514296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44"/>
          <p:cNvSpPr txBox="1">
            <a:spLocks noGrp="1"/>
          </p:cNvSpPr>
          <p:nvPr>
            <p:ph type="body" idx="3"/>
          </p:nvPr>
        </p:nvSpPr>
        <p:spPr>
          <a:xfrm>
            <a:off x="5938520" y="1300480"/>
            <a:ext cx="2514296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44"/>
          <p:cNvSpPr txBox="1">
            <a:spLocks noGrp="1"/>
          </p:cNvSpPr>
          <p:nvPr>
            <p:ph type="body" idx="4"/>
          </p:nvPr>
        </p:nvSpPr>
        <p:spPr>
          <a:xfrm>
            <a:off x="685800" y="869058"/>
            <a:ext cx="7772096" cy="502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800">
                <a:solidFill>
                  <a:srgbClr val="BA0A3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/White 1 Content + Bottom Photo">
  <p:cSld name="1_Red/White 1 Content + Bottom Photo"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5"/>
          <p:cNvSpPr>
            <a:spLocks noGrp="1"/>
          </p:cNvSpPr>
          <p:nvPr>
            <p:ph type="pic" idx="2"/>
          </p:nvPr>
        </p:nvSpPr>
        <p:spPr>
          <a:xfrm>
            <a:off x="152400" y="3429000"/>
            <a:ext cx="8839200" cy="3276600"/>
          </a:xfrm>
          <a:prstGeom prst="rect">
            <a:avLst/>
          </a:prstGeom>
          <a:solidFill>
            <a:srgbClr val="E7E7E5"/>
          </a:solidFill>
          <a:ln>
            <a:noFill/>
          </a:ln>
        </p:spPr>
      </p:sp>
      <p:sp>
        <p:nvSpPr>
          <p:cNvPr id="68" name="Google Shape;68;p45"/>
          <p:cNvSpPr txBox="1">
            <a:spLocks noGrp="1"/>
          </p:cNvSpPr>
          <p:nvPr>
            <p:ph type="body" idx="1"/>
          </p:nvPr>
        </p:nvSpPr>
        <p:spPr>
          <a:xfrm>
            <a:off x="685800" y="1300480"/>
            <a:ext cx="7772400" cy="181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45"/>
          <p:cNvSpPr txBox="1">
            <a:spLocks noGrp="1"/>
          </p:cNvSpPr>
          <p:nvPr>
            <p:ph type="title"/>
          </p:nvPr>
        </p:nvSpPr>
        <p:spPr>
          <a:xfrm>
            <a:off x="686104" y="848420"/>
            <a:ext cx="77724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>
                <a:solidFill>
                  <a:srgbClr val="BA0C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/White 1 Content + Right Photo">
  <p:cSld name="Red/White 1 Content + Right Photo"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8"/>
          <p:cNvSpPr>
            <a:spLocks noGrp="1"/>
          </p:cNvSpPr>
          <p:nvPr>
            <p:ph type="pic" idx="2"/>
          </p:nvPr>
        </p:nvSpPr>
        <p:spPr>
          <a:xfrm>
            <a:off x="4572000" y="152400"/>
            <a:ext cx="4419600" cy="6553200"/>
          </a:xfrm>
          <a:prstGeom prst="rect">
            <a:avLst/>
          </a:prstGeom>
          <a:solidFill>
            <a:srgbClr val="E7E7E5"/>
          </a:solidFill>
          <a:ln>
            <a:noFill/>
          </a:ln>
        </p:spPr>
      </p:sp>
      <p:sp>
        <p:nvSpPr>
          <p:cNvPr id="72" name="Google Shape;72;p48"/>
          <p:cNvSpPr txBox="1">
            <a:spLocks noGrp="1"/>
          </p:cNvSpPr>
          <p:nvPr>
            <p:ph type="body" idx="1"/>
          </p:nvPr>
        </p:nvSpPr>
        <p:spPr>
          <a:xfrm rot="-5400000">
            <a:off x="7527667" y="14316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48"/>
          <p:cNvSpPr txBox="1">
            <a:spLocks noGrp="1"/>
          </p:cNvSpPr>
          <p:nvPr>
            <p:ph type="body" idx="3"/>
          </p:nvPr>
        </p:nvSpPr>
        <p:spPr>
          <a:xfrm>
            <a:off x="543560" y="1300480"/>
            <a:ext cx="3652520" cy="490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48"/>
          <p:cNvSpPr txBox="1">
            <a:spLocks noGrp="1"/>
          </p:cNvSpPr>
          <p:nvPr>
            <p:ph type="title"/>
          </p:nvPr>
        </p:nvSpPr>
        <p:spPr>
          <a:xfrm>
            <a:off x="543864" y="848420"/>
            <a:ext cx="365252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>
                <a:solidFill>
                  <a:srgbClr val="BA0C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/White Title Only">
  <p:cSld name="Red/White Title Only"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1"/>
          <p:cNvSpPr>
            <a:spLocks noGrp="1"/>
          </p:cNvSpPr>
          <p:nvPr>
            <p:ph type="pic" idx="2"/>
          </p:nvPr>
        </p:nvSpPr>
        <p:spPr>
          <a:xfrm>
            <a:off x="152400" y="152401"/>
            <a:ext cx="4419600" cy="6553200"/>
          </a:xfrm>
          <a:prstGeom prst="rect">
            <a:avLst/>
          </a:prstGeom>
          <a:solidFill>
            <a:srgbClr val="E7E7E5"/>
          </a:solidFill>
          <a:ln>
            <a:noFill/>
          </a:ln>
        </p:spPr>
      </p:sp>
      <p:sp>
        <p:nvSpPr>
          <p:cNvPr id="77" name="Google Shape;77;p51"/>
          <p:cNvSpPr txBox="1">
            <a:spLocks noGrp="1"/>
          </p:cNvSpPr>
          <p:nvPr>
            <p:ph type="body" idx="1"/>
          </p:nvPr>
        </p:nvSpPr>
        <p:spPr>
          <a:xfrm>
            <a:off x="4881880" y="3177729"/>
            <a:ext cx="3886200" cy="502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800">
                <a:solidFill>
                  <a:srgbClr val="BA0A3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- Full Blue">
  <p:cSld name="Cover - Full Blue">
    <p:bg>
      <p:bgPr>
        <a:solidFill>
          <a:srgbClr val="002F6C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1522" y="685800"/>
            <a:ext cx="1813366" cy="54401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7"/>
          <p:cNvSpPr txBox="1">
            <a:spLocks noGrp="1"/>
          </p:cNvSpPr>
          <p:nvPr>
            <p:ph type="dt" idx="10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ftr" idx="11"/>
          </p:nvPr>
        </p:nvSpPr>
        <p:spPr>
          <a:xfrm>
            <a:off x="3124200" y="6520934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sldNum" idx="12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ctrTitle"/>
          </p:nvPr>
        </p:nvSpPr>
        <p:spPr>
          <a:xfrm>
            <a:off x="685800" y="2133600"/>
            <a:ext cx="5486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  <a:defRPr sz="3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subTitle" idx="1"/>
          </p:nvPr>
        </p:nvSpPr>
        <p:spPr>
          <a:xfrm>
            <a:off x="685800" y="4114800"/>
            <a:ext cx="34290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cxnSp>
        <p:nvCxnSpPr>
          <p:cNvPr id="85" name="Google Shape;85;p27"/>
          <p:cNvCxnSpPr/>
          <p:nvPr/>
        </p:nvCxnSpPr>
        <p:spPr>
          <a:xfrm>
            <a:off x="762000" y="3886200"/>
            <a:ext cx="3200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Full Blue">
  <p:cSld name="Divider - Full Blue">
    <p:bg>
      <p:bgPr>
        <a:solidFill>
          <a:srgbClr val="002F6C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8"/>
          <p:cNvSpPr txBox="1">
            <a:spLocks noGrp="1"/>
          </p:cNvSpPr>
          <p:nvPr>
            <p:ph type="title"/>
          </p:nvPr>
        </p:nvSpPr>
        <p:spPr>
          <a:xfrm>
            <a:off x="1143000" y="827782"/>
            <a:ext cx="54864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  <a:defRPr sz="3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8"/>
          <p:cNvSpPr txBox="1">
            <a:spLocks noGrp="1"/>
          </p:cNvSpPr>
          <p:nvPr>
            <p:ph type="dt" idx="10"/>
          </p:nvPr>
        </p:nvSpPr>
        <p:spPr>
          <a:xfrm>
            <a:off x="1524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ftr" idx="11"/>
          </p:nvPr>
        </p:nvSpPr>
        <p:spPr>
          <a:xfrm>
            <a:off x="3124200" y="6530079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28"/>
          <p:cNvSpPr txBox="1">
            <a:spLocks noGrp="1"/>
          </p:cNvSpPr>
          <p:nvPr>
            <p:ph type="sldNum" idx="12"/>
          </p:nvPr>
        </p:nvSpPr>
        <p:spPr>
          <a:xfrm>
            <a:off x="68580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1" name="Google Shape;91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2285" y="5943600"/>
            <a:ext cx="15240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28"/>
          <p:cNvCxnSpPr/>
          <p:nvPr/>
        </p:nvCxnSpPr>
        <p:spPr>
          <a:xfrm>
            <a:off x="746760" y="990600"/>
            <a:ext cx="320040" cy="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/Gray 1 Content">
  <p:cSld name="Blue/Gray 1 Content">
    <p:bg>
      <p:bgPr>
        <a:solidFill>
          <a:srgbClr val="E7E7E5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9"/>
          <p:cNvSpPr txBox="1">
            <a:spLocks noGrp="1"/>
          </p:cNvSpPr>
          <p:nvPr>
            <p:ph type="body" idx="1"/>
          </p:nvPr>
        </p:nvSpPr>
        <p:spPr>
          <a:xfrm>
            <a:off x="685800" y="154883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C6463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29"/>
          <p:cNvSpPr txBox="1">
            <a:spLocks noGrp="1"/>
          </p:cNvSpPr>
          <p:nvPr>
            <p:ph type="dt" idx="10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29"/>
          <p:cNvSpPr txBox="1">
            <a:spLocks noGrp="1"/>
          </p:cNvSpPr>
          <p:nvPr>
            <p:ph type="ftr" idx="11"/>
          </p:nvPr>
        </p:nvSpPr>
        <p:spPr>
          <a:xfrm>
            <a:off x="3124200" y="6520934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29"/>
          <p:cNvSpPr txBox="1">
            <a:spLocks noGrp="1"/>
          </p:cNvSpPr>
          <p:nvPr>
            <p:ph type="sldNum" idx="12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title"/>
          </p:nvPr>
        </p:nvSpPr>
        <p:spPr>
          <a:xfrm>
            <a:off x="686104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/Gray 2 Content">
  <p:cSld name="Blue/Gray 2 Conten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0"/>
          <p:cNvSpPr txBox="1">
            <a:spLocks noGrp="1"/>
          </p:cNvSpPr>
          <p:nvPr>
            <p:ph type="body" idx="1"/>
          </p:nvPr>
        </p:nvSpPr>
        <p:spPr>
          <a:xfrm>
            <a:off x="686104" y="1600200"/>
            <a:ext cx="3809696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»"/>
              <a:defRPr sz="1600">
                <a:solidFill>
                  <a:srgbClr val="6C6463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1" name="Google Shape;101;p3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3810304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»"/>
              <a:defRPr sz="1600">
                <a:solidFill>
                  <a:srgbClr val="6C6463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2" name="Google Shape;102;p30"/>
          <p:cNvSpPr txBox="1">
            <a:spLocks noGrp="1"/>
          </p:cNvSpPr>
          <p:nvPr>
            <p:ph type="dt" idx="10"/>
          </p:nvPr>
        </p:nvSpPr>
        <p:spPr>
          <a:xfrm>
            <a:off x="1524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6C646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30"/>
          <p:cNvSpPr txBox="1">
            <a:spLocks noGrp="1"/>
          </p:cNvSpPr>
          <p:nvPr>
            <p:ph type="ftr" idx="11"/>
          </p:nvPr>
        </p:nvSpPr>
        <p:spPr>
          <a:xfrm>
            <a:off x="3124200" y="6530079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6C646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30"/>
          <p:cNvSpPr txBox="1">
            <a:spLocks noGrp="1"/>
          </p:cNvSpPr>
          <p:nvPr>
            <p:ph type="sldNum" idx="12"/>
          </p:nvPr>
        </p:nvSpPr>
        <p:spPr>
          <a:xfrm>
            <a:off x="68580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30"/>
          <p:cNvSpPr txBox="1">
            <a:spLocks noGrp="1"/>
          </p:cNvSpPr>
          <p:nvPr>
            <p:ph type="title"/>
          </p:nvPr>
        </p:nvSpPr>
        <p:spPr>
          <a:xfrm>
            <a:off x="686104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/Gray 3 Content">
  <p:cSld name="Blue/Gray 3 Content">
    <p:bg>
      <p:bgPr>
        <a:solidFill>
          <a:srgbClr val="E7E7E5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1"/>
          <p:cNvSpPr txBox="1">
            <a:spLocks noGrp="1"/>
          </p:cNvSpPr>
          <p:nvPr>
            <p:ph type="body" idx="1"/>
          </p:nvPr>
        </p:nvSpPr>
        <p:spPr>
          <a:xfrm>
            <a:off x="686104" y="1600200"/>
            <a:ext cx="2514296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Char char="»"/>
              <a:defRPr sz="1600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8" name="Google Shape;108;p31"/>
          <p:cNvSpPr txBox="1">
            <a:spLocks noGrp="1"/>
          </p:cNvSpPr>
          <p:nvPr>
            <p:ph type="body" idx="2"/>
          </p:nvPr>
        </p:nvSpPr>
        <p:spPr>
          <a:xfrm>
            <a:off x="5943600" y="1600200"/>
            <a:ext cx="2514904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Char char="»"/>
              <a:defRPr sz="1600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9" name="Google Shape;109;p31"/>
          <p:cNvSpPr txBox="1">
            <a:spLocks noGrp="1"/>
          </p:cNvSpPr>
          <p:nvPr>
            <p:ph type="dt" idx="10"/>
          </p:nvPr>
        </p:nvSpPr>
        <p:spPr>
          <a:xfrm>
            <a:off x="1524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6C646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" name="Google Shape;110;p31"/>
          <p:cNvSpPr txBox="1">
            <a:spLocks noGrp="1"/>
          </p:cNvSpPr>
          <p:nvPr>
            <p:ph type="ftr" idx="11"/>
          </p:nvPr>
        </p:nvSpPr>
        <p:spPr>
          <a:xfrm>
            <a:off x="3124200" y="6530079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6C646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" name="Google Shape;111;p31"/>
          <p:cNvSpPr txBox="1">
            <a:spLocks noGrp="1"/>
          </p:cNvSpPr>
          <p:nvPr>
            <p:ph type="sldNum" idx="12"/>
          </p:nvPr>
        </p:nvSpPr>
        <p:spPr>
          <a:xfrm>
            <a:off x="68580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31"/>
          <p:cNvSpPr txBox="1">
            <a:spLocks noGrp="1"/>
          </p:cNvSpPr>
          <p:nvPr>
            <p:ph type="title"/>
          </p:nvPr>
        </p:nvSpPr>
        <p:spPr>
          <a:xfrm>
            <a:off x="686104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1"/>
          <p:cNvSpPr txBox="1">
            <a:spLocks noGrp="1"/>
          </p:cNvSpPr>
          <p:nvPr>
            <p:ph type="body" idx="3"/>
          </p:nvPr>
        </p:nvSpPr>
        <p:spPr>
          <a:xfrm>
            <a:off x="3314548" y="1600200"/>
            <a:ext cx="2514904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Char char="»"/>
              <a:defRPr sz="1600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/Gray 1 Content + Bottom Photo">
  <p:cSld name="Blue/Gray 1 Content + Bottom Photo">
    <p:bg>
      <p:bgPr>
        <a:solidFill>
          <a:srgbClr val="E7E7E5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2"/>
          <p:cNvSpPr>
            <a:spLocks noGrp="1"/>
          </p:cNvSpPr>
          <p:nvPr>
            <p:ph type="pic" idx="2"/>
          </p:nvPr>
        </p:nvSpPr>
        <p:spPr>
          <a:xfrm>
            <a:off x="152400" y="3429000"/>
            <a:ext cx="8839200" cy="3276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6" name="Google Shape;116;p32"/>
          <p:cNvSpPr txBox="1">
            <a:spLocks noGrp="1"/>
          </p:cNvSpPr>
          <p:nvPr>
            <p:ph type="body" idx="1"/>
          </p:nvPr>
        </p:nvSpPr>
        <p:spPr>
          <a:xfrm rot="-5400000">
            <a:off x="7527667" y="47082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body" idx="3"/>
          </p:nvPr>
        </p:nvSpPr>
        <p:spPr>
          <a:xfrm>
            <a:off x="685800" y="1600200"/>
            <a:ext cx="777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</a:defRPr>
            </a:lvl1pPr>
            <a:lvl2pPr marL="914400" lvl="1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32"/>
          <p:cNvSpPr txBox="1">
            <a:spLocks noGrp="1"/>
          </p:cNvSpPr>
          <p:nvPr>
            <p:ph type="dt" idx="10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32"/>
          <p:cNvSpPr txBox="1">
            <a:spLocks noGrp="1"/>
          </p:cNvSpPr>
          <p:nvPr>
            <p:ph type="ftr" idx="11"/>
          </p:nvPr>
        </p:nvSpPr>
        <p:spPr>
          <a:xfrm>
            <a:off x="3124200" y="6520934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" name="Google Shape;120;p32"/>
          <p:cNvSpPr txBox="1">
            <a:spLocks noGrp="1"/>
          </p:cNvSpPr>
          <p:nvPr>
            <p:ph type="sldNum" idx="12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32"/>
          <p:cNvSpPr txBox="1">
            <a:spLocks noGrp="1"/>
          </p:cNvSpPr>
          <p:nvPr>
            <p:ph type="title"/>
          </p:nvPr>
        </p:nvSpPr>
        <p:spPr>
          <a:xfrm>
            <a:off x="686104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/Gray 1 Content + Right Photo">
  <p:cSld name="Blue/Gray 1 Content + Right Photo">
    <p:bg>
      <p:bgPr>
        <a:solidFill>
          <a:srgbClr val="E7E7E5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3"/>
          <p:cNvSpPr>
            <a:spLocks noGrp="1"/>
          </p:cNvSpPr>
          <p:nvPr>
            <p:ph type="pic" idx="2"/>
          </p:nvPr>
        </p:nvSpPr>
        <p:spPr>
          <a:xfrm>
            <a:off x="4572000" y="152400"/>
            <a:ext cx="4419600" cy="65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4" name="Google Shape;124;p33"/>
          <p:cNvSpPr txBox="1">
            <a:spLocks noGrp="1"/>
          </p:cNvSpPr>
          <p:nvPr>
            <p:ph type="dt" idx="10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5" name="Google Shape;125;p33"/>
          <p:cNvSpPr txBox="1">
            <a:spLocks noGrp="1"/>
          </p:cNvSpPr>
          <p:nvPr>
            <p:ph type="sldNum" idx="12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33"/>
          <p:cNvSpPr txBox="1">
            <a:spLocks noGrp="1"/>
          </p:cNvSpPr>
          <p:nvPr>
            <p:ph type="body" idx="1"/>
          </p:nvPr>
        </p:nvSpPr>
        <p:spPr>
          <a:xfrm>
            <a:off x="685800" y="2057400"/>
            <a:ext cx="3657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33"/>
          <p:cNvSpPr txBox="1">
            <a:spLocks noGrp="1"/>
          </p:cNvSpPr>
          <p:nvPr>
            <p:ph type="title"/>
          </p:nvPr>
        </p:nvSpPr>
        <p:spPr>
          <a:xfrm>
            <a:off x="685800" y="408204"/>
            <a:ext cx="3657296" cy="13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3"/>
          <p:cNvSpPr txBox="1">
            <a:spLocks noGrp="1"/>
          </p:cNvSpPr>
          <p:nvPr>
            <p:ph type="body" idx="3"/>
          </p:nvPr>
        </p:nvSpPr>
        <p:spPr>
          <a:xfrm rot="-5400000">
            <a:off x="7527667" y="14316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/Gray Title Only">
  <p:cSld name="Blue/Gray Title Only">
    <p:bg>
      <p:bgPr>
        <a:solidFill>
          <a:srgbClr val="E7E7E5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4"/>
          <p:cNvSpPr>
            <a:spLocks noGrp="1"/>
          </p:cNvSpPr>
          <p:nvPr>
            <p:ph type="pic" idx="2"/>
          </p:nvPr>
        </p:nvSpPr>
        <p:spPr>
          <a:xfrm>
            <a:off x="152400" y="152400"/>
            <a:ext cx="4419600" cy="65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1" name="Google Shape;131;p34"/>
          <p:cNvSpPr txBox="1">
            <a:spLocks noGrp="1"/>
          </p:cNvSpPr>
          <p:nvPr>
            <p:ph type="dt" idx="10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2" name="Google Shape;132;p34"/>
          <p:cNvSpPr txBox="1">
            <a:spLocks noGrp="1"/>
          </p:cNvSpPr>
          <p:nvPr>
            <p:ph type="sldNum" idx="12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34"/>
          <p:cNvSpPr txBox="1">
            <a:spLocks noGrp="1"/>
          </p:cNvSpPr>
          <p:nvPr>
            <p:ph type="body" idx="1"/>
          </p:nvPr>
        </p:nvSpPr>
        <p:spPr>
          <a:xfrm rot="-5400000">
            <a:off x="3108067" y="14316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34"/>
          <p:cNvSpPr txBox="1">
            <a:spLocks noGrp="1"/>
          </p:cNvSpPr>
          <p:nvPr>
            <p:ph type="title"/>
          </p:nvPr>
        </p:nvSpPr>
        <p:spPr>
          <a:xfrm>
            <a:off x="4877104" y="2971800"/>
            <a:ext cx="3885896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/White 1 Content">
  <p:cSld name="Blue/White 1 Content">
    <p:bg>
      <p:bgPr>
        <a:solidFill>
          <a:schemeClr val="l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5"/>
          <p:cNvSpPr txBox="1">
            <a:spLocks noGrp="1"/>
          </p:cNvSpPr>
          <p:nvPr>
            <p:ph type="body" idx="1"/>
          </p:nvPr>
        </p:nvSpPr>
        <p:spPr>
          <a:xfrm>
            <a:off x="685800" y="16002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C6463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35"/>
          <p:cNvSpPr txBox="1">
            <a:spLocks noGrp="1"/>
          </p:cNvSpPr>
          <p:nvPr>
            <p:ph type="dt" idx="10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" name="Google Shape;138;p35"/>
          <p:cNvSpPr txBox="1">
            <a:spLocks noGrp="1"/>
          </p:cNvSpPr>
          <p:nvPr>
            <p:ph type="ftr" idx="11"/>
          </p:nvPr>
        </p:nvSpPr>
        <p:spPr>
          <a:xfrm>
            <a:off x="3124200" y="6520934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" name="Google Shape;139;p35"/>
          <p:cNvSpPr txBox="1">
            <a:spLocks noGrp="1"/>
          </p:cNvSpPr>
          <p:nvPr>
            <p:ph type="sldNum" idx="12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35"/>
          <p:cNvSpPr txBox="1">
            <a:spLocks noGrp="1"/>
          </p:cNvSpPr>
          <p:nvPr>
            <p:ph type="title"/>
          </p:nvPr>
        </p:nvSpPr>
        <p:spPr>
          <a:xfrm>
            <a:off x="686104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/White 2 Content">
  <p:cSld name="Blue/White 2 Content">
    <p:bg>
      <p:bgPr>
        <a:solidFill>
          <a:schemeClr val="lt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6"/>
          <p:cNvSpPr txBox="1">
            <a:spLocks noGrp="1"/>
          </p:cNvSpPr>
          <p:nvPr>
            <p:ph type="body" idx="1"/>
          </p:nvPr>
        </p:nvSpPr>
        <p:spPr>
          <a:xfrm>
            <a:off x="686104" y="1600200"/>
            <a:ext cx="3809696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»"/>
              <a:defRPr sz="1600">
                <a:solidFill>
                  <a:srgbClr val="6C6463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43" name="Google Shape;143;p3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3810304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»"/>
              <a:defRPr sz="1600">
                <a:solidFill>
                  <a:srgbClr val="6C6463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dt" idx="10"/>
          </p:nvPr>
        </p:nvSpPr>
        <p:spPr>
          <a:xfrm>
            <a:off x="1524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6C646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ftr" idx="11"/>
          </p:nvPr>
        </p:nvSpPr>
        <p:spPr>
          <a:xfrm>
            <a:off x="3124200" y="6530079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6C646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ldNum" idx="12"/>
          </p:nvPr>
        </p:nvSpPr>
        <p:spPr>
          <a:xfrm>
            <a:off x="68580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title"/>
          </p:nvPr>
        </p:nvSpPr>
        <p:spPr>
          <a:xfrm>
            <a:off x="686104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/White 3 Content">
  <p:cSld name="Blue/White 3 Content">
    <p:bg>
      <p:bgPr>
        <a:solidFill>
          <a:schemeClr val="lt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7"/>
          <p:cNvSpPr txBox="1">
            <a:spLocks noGrp="1"/>
          </p:cNvSpPr>
          <p:nvPr>
            <p:ph type="body" idx="1"/>
          </p:nvPr>
        </p:nvSpPr>
        <p:spPr>
          <a:xfrm>
            <a:off x="686104" y="1600200"/>
            <a:ext cx="2514296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Char char="»"/>
              <a:defRPr sz="1600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body" idx="2"/>
          </p:nvPr>
        </p:nvSpPr>
        <p:spPr>
          <a:xfrm>
            <a:off x="5943600" y="1600200"/>
            <a:ext cx="2514904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Char char="»"/>
              <a:defRPr sz="1600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dt" idx="10"/>
          </p:nvPr>
        </p:nvSpPr>
        <p:spPr>
          <a:xfrm>
            <a:off x="1524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6C646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2" name="Google Shape;152;p37"/>
          <p:cNvSpPr txBox="1">
            <a:spLocks noGrp="1"/>
          </p:cNvSpPr>
          <p:nvPr>
            <p:ph type="ftr" idx="11"/>
          </p:nvPr>
        </p:nvSpPr>
        <p:spPr>
          <a:xfrm>
            <a:off x="3124200" y="6530079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6C646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" name="Google Shape;153;p37"/>
          <p:cNvSpPr txBox="1">
            <a:spLocks noGrp="1"/>
          </p:cNvSpPr>
          <p:nvPr>
            <p:ph type="sldNum" idx="12"/>
          </p:nvPr>
        </p:nvSpPr>
        <p:spPr>
          <a:xfrm>
            <a:off x="68580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37"/>
          <p:cNvSpPr txBox="1">
            <a:spLocks noGrp="1"/>
          </p:cNvSpPr>
          <p:nvPr>
            <p:ph type="title"/>
          </p:nvPr>
        </p:nvSpPr>
        <p:spPr>
          <a:xfrm>
            <a:off x="686104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7"/>
          <p:cNvSpPr txBox="1">
            <a:spLocks noGrp="1"/>
          </p:cNvSpPr>
          <p:nvPr>
            <p:ph type="body" idx="3"/>
          </p:nvPr>
        </p:nvSpPr>
        <p:spPr>
          <a:xfrm>
            <a:off x="3314548" y="1600200"/>
            <a:ext cx="2514904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Char char="»"/>
              <a:defRPr sz="1600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/White 1 Content + Bottom Photo">
  <p:cSld name="Blue/White 1 Content + Bottom Photo">
    <p:bg>
      <p:bgPr>
        <a:solidFill>
          <a:schemeClr val="lt1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8"/>
          <p:cNvSpPr>
            <a:spLocks noGrp="1"/>
          </p:cNvSpPr>
          <p:nvPr>
            <p:ph type="pic" idx="2"/>
          </p:nvPr>
        </p:nvSpPr>
        <p:spPr>
          <a:xfrm>
            <a:off x="152400" y="3429000"/>
            <a:ext cx="8839200" cy="3276600"/>
          </a:xfrm>
          <a:prstGeom prst="rect">
            <a:avLst/>
          </a:prstGeom>
          <a:solidFill>
            <a:srgbClr val="E7E7E5"/>
          </a:solidFill>
          <a:ln>
            <a:noFill/>
          </a:ln>
        </p:spPr>
      </p:sp>
      <p:sp>
        <p:nvSpPr>
          <p:cNvPr id="158" name="Google Shape;158;p38"/>
          <p:cNvSpPr txBox="1">
            <a:spLocks noGrp="1"/>
          </p:cNvSpPr>
          <p:nvPr>
            <p:ph type="body" idx="1"/>
          </p:nvPr>
        </p:nvSpPr>
        <p:spPr>
          <a:xfrm rot="-5400000">
            <a:off x="7527667" y="47082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38"/>
          <p:cNvSpPr txBox="1">
            <a:spLocks noGrp="1"/>
          </p:cNvSpPr>
          <p:nvPr>
            <p:ph type="body" idx="3"/>
          </p:nvPr>
        </p:nvSpPr>
        <p:spPr>
          <a:xfrm>
            <a:off x="685800" y="1600200"/>
            <a:ext cx="777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</a:defRPr>
            </a:lvl1pPr>
            <a:lvl2pPr marL="914400" lvl="1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38"/>
          <p:cNvSpPr txBox="1">
            <a:spLocks noGrp="1"/>
          </p:cNvSpPr>
          <p:nvPr>
            <p:ph type="dt" idx="10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38"/>
          <p:cNvSpPr txBox="1">
            <a:spLocks noGrp="1"/>
          </p:cNvSpPr>
          <p:nvPr>
            <p:ph type="ftr" idx="11"/>
          </p:nvPr>
        </p:nvSpPr>
        <p:spPr>
          <a:xfrm>
            <a:off x="3124200" y="6520934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38"/>
          <p:cNvSpPr txBox="1">
            <a:spLocks noGrp="1"/>
          </p:cNvSpPr>
          <p:nvPr>
            <p:ph type="sldNum" idx="12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38"/>
          <p:cNvSpPr txBox="1">
            <a:spLocks noGrp="1"/>
          </p:cNvSpPr>
          <p:nvPr>
            <p:ph type="title"/>
          </p:nvPr>
        </p:nvSpPr>
        <p:spPr>
          <a:xfrm>
            <a:off x="686104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/White 1 Content + Right Photo">
  <p:cSld name="Blue/White 1 Content + Right Photo">
    <p:bg>
      <p:bgPr>
        <a:solidFill>
          <a:schemeClr val="lt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9"/>
          <p:cNvSpPr>
            <a:spLocks noGrp="1"/>
          </p:cNvSpPr>
          <p:nvPr>
            <p:ph type="pic" idx="2"/>
          </p:nvPr>
        </p:nvSpPr>
        <p:spPr>
          <a:xfrm>
            <a:off x="4572000" y="152400"/>
            <a:ext cx="4419600" cy="6553200"/>
          </a:xfrm>
          <a:prstGeom prst="rect">
            <a:avLst/>
          </a:prstGeom>
          <a:solidFill>
            <a:srgbClr val="E7E7E5"/>
          </a:solidFill>
          <a:ln>
            <a:noFill/>
          </a:ln>
        </p:spPr>
      </p:sp>
      <p:sp>
        <p:nvSpPr>
          <p:cNvPr id="166" name="Google Shape;166;p39"/>
          <p:cNvSpPr txBox="1">
            <a:spLocks noGrp="1"/>
          </p:cNvSpPr>
          <p:nvPr>
            <p:ph type="dt" idx="10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7" name="Google Shape;167;p39"/>
          <p:cNvSpPr txBox="1">
            <a:spLocks noGrp="1"/>
          </p:cNvSpPr>
          <p:nvPr>
            <p:ph type="sldNum" idx="12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39"/>
          <p:cNvSpPr txBox="1">
            <a:spLocks noGrp="1"/>
          </p:cNvSpPr>
          <p:nvPr>
            <p:ph type="body" idx="1"/>
          </p:nvPr>
        </p:nvSpPr>
        <p:spPr>
          <a:xfrm>
            <a:off x="685800" y="2057400"/>
            <a:ext cx="3657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39"/>
          <p:cNvSpPr txBox="1">
            <a:spLocks noGrp="1"/>
          </p:cNvSpPr>
          <p:nvPr>
            <p:ph type="title"/>
          </p:nvPr>
        </p:nvSpPr>
        <p:spPr>
          <a:xfrm>
            <a:off x="685800" y="408204"/>
            <a:ext cx="3657296" cy="13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9"/>
          <p:cNvSpPr txBox="1">
            <a:spLocks noGrp="1"/>
          </p:cNvSpPr>
          <p:nvPr>
            <p:ph type="body" idx="3"/>
          </p:nvPr>
        </p:nvSpPr>
        <p:spPr>
          <a:xfrm rot="-5400000">
            <a:off x="7527667" y="14316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/White Title + Left Photo">
  <p:cSld name="Blue/White Title + Left Photo">
    <p:bg>
      <p:bgPr>
        <a:solidFill>
          <a:schemeClr val="lt1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0"/>
          <p:cNvSpPr>
            <a:spLocks noGrp="1"/>
          </p:cNvSpPr>
          <p:nvPr>
            <p:ph type="pic" idx="2"/>
          </p:nvPr>
        </p:nvSpPr>
        <p:spPr>
          <a:xfrm>
            <a:off x="152400" y="152400"/>
            <a:ext cx="4419600" cy="6553200"/>
          </a:xfrm>
          <a:prstGeom prst="rect">
            <a:avLst/>
          </a:prstGeom>
          <a:solidFill>
            <a:srgbClr val="E7E7E5"/>
          </a:solidFill>
          <a:ln>
            <a:noFill/>
          </a:ln>
        </p:spPr>
      </p:sp>
      <p:sp>
        <p:nvSpPr>
          <p:cNvPr id="173" name="Google Shape;173;p40"/>
          <p:cNvSpPr txBox="1">
            <a:spLocks noGrp="1"/>
          </p:cNvSpPr>
          <p:nvPr>
            <p:ph type="dt" idx="10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4" name="Google Shape;174;p40"/>
          <p:cNvSpPr txBox="1">
            <a:spLocks noGrp="1"/>
          </p:cNvSpPr>
          <p:nvPr>
            <p:ph type="sldNum" idx="12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40"/>
          <p:cNvSpPr txBox="1">
            <a:spLocks noGrp="1"/>
          </p:cNvSpPr>
          <p:nvPr>
            <p:ph type="body" idx="1"/>
          </p:nvPr>
        </p:nvSpPr>
        <p:spPr>
          <a:xfrm rot="-5400000">
            <a:off x="3108067" y="14316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40"/>
          <p:cNvSpPr txBox="1">
            <a:spLocks noGrp="1"/>
          </p:cNvSpPr>
          <p:nvPr>
            <p:ph type="title"/>
          </p:nvPr>
        </p:nvSpPr>
        <p:spPr>
          <a:xfrm>
            <a:off x="4877104" y="2971800"/>
            <a:ext cx="3885896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Red/Gray 1 Content + Right Photo">
  <p:cSld name="1_Red/Gray 1 Content + Right Photo">
    <p:bg>
      <p:bgPr>
        <a:solidFill>
          <a:srgbClr val="E7E7E5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0"/>
          <p:cNvSpPr txBox="1">
            <a:spLocks noGrp="1"/>
          </p:cNvSpPr>
          <p:nvPr>
            <p:ph type="dt" idx="10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50"/>
          <p:cNvSpPr txBox="1">
            <a:spLocks noGrp="1"/>
          </p:cNvSpPr>
          <p:nvPr>
            <p:ph type="sldNum" idx="12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p50"/>
          <p:cNvSpPr txBox="1">
            <a:spLocks noGrp="1"/>
          </p:cNvSpPr>
          <p:nvPr>
            <p:ph type="body" idx="1"/>
          </p:nvPr>
        </p:nvSpPr>
        <p:spPr>
          <a:xfrm>
            <a:off x="685800" y="2057401"/>
            <a:ext cx="3657600" cy="411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marL="914400" lvl="1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1800">
                <a:solidFill>
                  <a:srgbClr val="6C6463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600">
                <a:solidFill>
                  <a:srgbClr val="6C6463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400">
                <a:solidFill>
                  <a:srgbClr val="6C6463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50"/>
          <p:cNvSpPr txBox="1">
            <a:spLocks noGrp="1"/>
          </p:cNvSpPr>
          <p:nvPr>
            <p:ph type="title"/>
          </p:nvPr>
        </p:nvSpPr>
        <p:spPr>
          <a:xfrm>
            <a:off x="685800" y="843985"/>
            <a:ext cx="3657296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cap="none">
                <a:solidFill>
                  <a:srgbClr val="BA0C2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50"/>
          <p:cNvSpPr txBox="1">
            <a:spLocks noGrp="1"/>
          </p:cNvSpPr>
          <p:nvPr>
            <p:ph type="body" idx="2"/>
          </p:nvPr>
        </p:nvSpPr>
        <p:spPr>
          <a:xfrm rot="-5400000">
            <a:off x="7527667" y="14316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6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50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/Gray 1 Content + Bottom Photo">
  <p:cSld name="1_Red/Gray 1 Content + Bottom Photo">
    <p:bg>
      <p:bgPr>
        <a:solidFill>
          <a:srgbClr val="E7E7E5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2"/>
          <p:cNvSpPr>
            <a:spLocks noGrp="1"/>
          </p:cNvSpPr>
          <p:nvPr>
            <p:ph type="pic" idx="2"/>
          </p:nvPr>
        </p:nvSpPr>
        <p:spPr>
          <a:xfrm>
            <a:off x="152400" y="3429000"/>
            <a:ext cx="8839200" cy="3276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86" name="Google Shape;186;p52"/>
          <p:cNvSpPr txBox="1">
            <a:spLocks noGrp="1"/>
          </p:cNvSpPr>
          <p:nvPr>
            <p:ph type="body" idx="1"/>
          </p:nvPr>
        </p:nvSpPr>
        <p:spPr>
          <a:xfrm>
            <a:off x="685800" y="1600200"/>
            <a:ext cx="777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</a:defRPr>
            </a:lvl1pPr>
            <a:lvl2pPr marL="914400" lvl="1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52"/>
          <p:cNvSpPr txBox="1">
            <a:spLocks noGrp="1"/>
          </p:cNvSpPr>
          <p:nvPr>
            <p:ph type="dt" idx="10"/>
          </p:nvPr>
        </p:nvSpPr>
        <p:spPr>
          <a:xfrm>
            <a:off x="152400" y="6520954"/>
            <a:ext cx="2133600" cy="18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" name="Google Shape;188;p52"/>
          <p:cNvSpPr txBox="1">
            <a:spLocks noGrp="1"/>
          </p:cNvSpPr>
          <p:nvPr>
            <p:ph type="ftr" idx="11"/>
          </p:nvPr>
        </p:nvSpPr>
        <p:spPr>
          <a:xfrm>
            <a:off x="3124200" y="6520934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52"/>
          <p:cNvSpPr txBox="1">
            <a:spLocks noGrp="1"/>
          </p:cNvSpPr>
          <p:nvPr>
            <p:ph type="sldNum" idx="12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52"/>
          <p:cNvSpPr txBox="1">
            <a:spLocks noGrp="1"/>
          </p:cNvSpPr>
          <p:nvPr>
            <p:ph type="title"/>
          </p:nvPr>
        </p:nvSpPr>
        <p:spPr>
          <a:xfrm>
            <a:off x="686104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>
                <a:solidFill>
                  <a:srgbClr val="BA0C2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52"/>
          <p:cNvSpPr txBox="1">
            <a:spLocks noGrp="1"/>
          </p:cNvSpPr>
          <p:nvPr>
            <p:ph type="body" idx="3"/>
          </p:nvPr>
        </p:nvSpPr>
        <p:spPr>
          <a:xfrm rot="-5400000">
            <a:off x="7527667" y="47082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/Gray 1 Content">
  <p:cSld name="1_Red/Gray 1 Content 2">
    <p:bg>
      <p:bgPr>
        <a:solidFill>
          <a:srgbClr val="E7E7E5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3"/>
          <p:cNvSpPr txBox="1">
            <a:spLocks noGrp="1"/>
          </p:cNvSpPr>
          <p:nvPr>
            <p:ph type="body" idx="1"/>
          </p:nvPr>
        </p:nvSpPr>
        <p:spPr>
          <a:xfrm>
            <a:off x="685800" y="1528282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C6463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53"/>
          <p:cNvSpPr txBox="1">
            <a:spLocks noGrp="1"/>
          </p:cNvSpPr>
          <p:nvPr>
            <p:ph type="dt" idx="10"/>
          </p:nvPr>
        </p:nvSpPr>
        <p:spPr>
          <a:xfrm>
            <a:off x="152400" y="6520954"/>
            <a:ext cx="2133600" cy="18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" name="Google Shape;195;p53"/>
          <p:cNvSpPr txBox="1">
            <a:spLocks noGrp="1"/>
          </p:cNvSpPr>
          <p:nvPr>
            <p:ph type="ftr" idx="11"/>
          </p:nvPr>
        </p:nvSpPr>
        <p:spPr>
          <a:xfrm>
            <a:off x="3124200" y="6520934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" name="Google Shape;196;p53"/>
          <p:cNvSpPr txBox="1">
            <a:spLocks noGrp="1"/>
          </p:cNvSpPr>
          <p:nvPr>
            <p:ph type="sldNum" idx="12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53"/>
          <p:cNvSpPr txBox="1">
            <a:spLocks noGrp="1"/>
          </p:cNvSpPr>
          <p:nvPr>
            <p:ph type="title"/>
          </p:nvPr>
        </p:nvSpPr>
        <p:spPr>
          <a:xfrm>
            <a:off x="686104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>
                <a:solidFill>
                  <a:srgbClr val="BA0C2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7E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686104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 sz="2800" b="0" i="0" u="none" strike="noStrike" cap="none">
                <a:solidFill>
                  <a:srgbClr val="BA0C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685800" y="1600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35C5B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222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"/>
          <p:cNvSpPr txBox="1"/>
          <p:nvPr/>
        </p:nvSpPr>
        <p:spPr>
          <a:xfrm>
            <a:off x="152400" y="3100211"/>
            <a:ext cx="8839200" cy="2369839"/>
          </a:xfrm>
          <a:prstGeom prst="rect">
            <a:avLst/>
          </a:prstGeom>
          <a:solidFill>
            <a:schemeClr val="dk1">
              <a:alpha val="46274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</a:pPr>
            <a:endParaRPr sz="37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</a:pPr>
            <a:endParaRPr sz="37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</a:pPr>
            <a:endParaRPr sz="37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</a:pPr>
            <a:endParaRPr sz="37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3" name="Google Shape;203;p2"/>
          <p:cNvSpPr txBox="1">
            <a:spLocks noGrp="1"/>
          </p:cNvSpPr>
          <p:nvPr>
            <p:ph type="ctrTitle"/>
          </p:nvPr>
        </p:nvSpPr>
        <p:spPr>
          <a:xfrm>
            <a:off x="685799" y="3406698"/>
            <a:ext cx="8022771" cy="799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22605"/>
              <a:buFont typeface="Gill Sans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</a:rPr>
              <a:t>WOMEN’S POLITICAL PARTICIPATION AND LEADERSHIP ASSESSMENT: </a:t>
            </a:r>
            <a:r>
              <a:rPr lang="en-US" sz="2500" dirty="0">
                <a:solidFill>
                  <a:schemeClr val="lt1"/>
                </a:solidFill>
              </a:rPr>
              <a:t>CÔTE D’IVOIRE</a:t>
            </a:r>
            <a:endParaRPr sz="2500" dirty="0"/>
          </a:p>
        </p:txBody>
      </p:sp>
      <p:sp>
        <p:nvSpPr>
          <p:cNvPr id="204" name="Google Shape;204;p2"/>
          <p:cNvSpPr txBox="1">
            <a:spLocks noGrp="1"/>
          </p:cNvSpPr>
          <p:nvPr>
            <p:ph type="subTitle" idx="1"/>
          </p:nvPr>
        </p:nvSpPr>
        <p:spPr>
          <a:xfrm>
            <a:off x="585439" y="4304371"/>
            <a:ext cx="3429000" cy="981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lang="en-US" sz="2400" dirty="0">
                <a:solidFill>
                  <a:srgbClr val="D8D8D8"/>
                </a:solidFill>
              </a:rPr>
              <a:t>Findings Presentation</a:t>
            </a:r>
            <a:endParaRPr dirty="0"/>
          </a:p>
          <a:p>
            <a:pPr marL="457200" lvl="0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solidFill>
                  <a:srgbClr val="D8D8D8"/>
                </a:solidFill>
              </a:rPr>
              <a:t>Date: 2023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"/>
          <p:cNvSpPr txBox="1">
            <a:spLocks noGrp="1"/>
          </p:cNvSpPr>
          <p:nvPr>
            <p:ph type="body" idx="1"/>
          </p:nvPr>
        </p:nvSpPr>
        <p:spPr>
          <a:xfrm>
            <a:off x="685800" y="1964511"/>
            <a:ext cx="7772400" cy="353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/>
          <a:p>
            <a:pPr marL="101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-Assessment Purpose &amp; Approach </a:t>
            </a:r>
            <a:endParaRPr/>
          </a:p>
          <a:p>
            <a:pPr marL="1016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/>
              <a:t>-Methodology </a:t>
            </a:r>
            <a:endParaRPr/>
          </a:p>
          <a:p>
            <a:pPr marL="1016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/>
              <a:t>-Barriers &amp; Opportunities</a:t>
            </a:r>
            <a:endParaRPr/>
          </a:p>
          <a:p>
            <a:pPr marL="101600" lvl="0" indent="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00"/>
              <a:buNone/>
            </a:pPr>
            <a:r>
              <a:rPr lang="en-US"/>
              <a:t>-Recommendations</a:t>
            </a:r>
            <a:endParaRPr/>
          </a:p>
        </p:txBody>
      </p:sp>
      <p:sp>
        <p:nvSpPr>
          <p:cNvPr id="210" name="Google Shape;210;p3"/>
          <p:cNvSpPr txBox="1">
            <a:spLocks noGrp="1"/>
          </p:cNvSpPr>
          <p:nvPr>
            <p:ph type="title"/>
          </p:nvPr>
        </p:nvSpPr>
        <p:spPr>
          <a:xfrm>
            <a:off x="685800" y="1082675"/>
            <a:ext cx="7772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"/>
          <p:cNvSpPr txBox="1">
            <a:spLocks noGrp="1"/>
          </p:cNvSpPr>
          <p:nvPr>
            <p:ph type="body" idx="1"/>
          </p:nvPr>
        </p:nvSpPr>
        <p:spPr>
          <a:xfrm>
            <a:off x="685800" y="1300480"/>
            <a:ext cx="7772096" cy="490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The study of women’s political leadership in Côte d’Ivoire investigated the barriers to and opportunities for expanding women’s participation and leadership in the political landscape. </a:t>
            </a:r>
            <a:endParaRPr/>
          </a:p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It used the Women’s Political Participation and Leadership (WPPL) Assessment Framework to document women’s access to and power in politics along sociocultural, institutional, and individual dimensions.</a:t>
            </a:r>
            <a:endParaRPr/>
          </a:p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The assessment analyzed WPPL through the lenses of access and power.</a:t>
            </a:r>
            <a:endParaRPr/>
          </a:p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</a:pPr>
            <a:r>
              <a:rPr lang="en-US"/>
              <a:t>USAID can use the report’s findings to identify priority areas in which its investments are likely to have the greatest impact.  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217" name="Google Shape;217;p4"/>
          <p:cNvSpPr txBox="1">
            <a:spLocks noGrp="1"/>
          </p:cNvSpPr>
          <p:nvPr>
            <p:ph type="body" idx="2"/>
          </p:nvPr>
        </p:nvSpPr>
        <p:spPr>
          <a:xfrm>
            <a:off x="685800" y="869058"/>
            <a:ext cx="7772096" cy="502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 lnSpcReduction="10000"/>
          </a:bodyPr>
          <a:lstStyle/>
          <a:p>
            <a:pPr marL="101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ASSESSMENT PURPOSE &amp; APPROACH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g540cd75bd0_0_15" descr="A person putting a ballot into a box&#10;&#10;Description automatically generate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5028" t="-158" r="47172" b="-90"/>
          <a:stretch/>
        </p:blipFill>
        <p:spPr>
          <a:xfrm>
            <a:off x="330200" y="292100"/>
            <a:ext cx="4216400" cy="627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224" name="Google Shape;224;g540cd75bd0_0_15"/>
          <p:cNvSpPr txBox="1">
            <a:spLocks noGrp="1"/>
          </p:cNvSpPr>
          <p:nvPr>
            <p:ph type="body" idx="1"/>
          </p:nvPr>
        </p:nvSpPr>
        <p:spPr>
          <a:xfrm>
            <a:off x="4975860" y="1325880"/>
            <a:ext cx="3652520" cy="490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 fontScale="92500" lnSpcReduction="20000"/>
          </a:bodyPr>
          <a:lstStyle/>
          <a:p>
            <a:pPr marL="10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-US" b="1" dirty="0"/>
              <a:t>Desk Review</a:t>
            </a:r>
            <a:endParaRPr dirty="0"/>
          </a:p>
          <a:p>
            <a:pPr marL="10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-US" b="1" dirty="0"/>
              <a:t>Key Informant Interviews</a:t>
            </a:r>
            <a:endParaRPr dirty="0"/>
          </a:p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8108"/>
              <a:buChar char="•"/>
            </a:pPr>
            <a:r>
              <a:rPr lang="en-US" dirty="0"/>
              <a:t>Five politicians (two women, three men)</a:t>
            </a:r>
            <a:endParaRPr dirty="0"/>
          </a:p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8108"/>
              <a:buChar char="•"/>
            </a:pPr>
            <a:r>
              <a:rPr lang="en-US" dirty="0"/>
              <a:t>Two political leaders (one woman, one man)</a:t>
            </a:r>
            <a:endParaRPr dirty="0"/>
          </a:p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8108"/>
              <a:buChar char="•"/>
            </a:pPr>
            <a:r>
              <a:rPr lang="en-US" dirty="0"/>
              <a:t>Three donors and implementing partners (one woman, two men)</a:t>
            </a:r>
            <a:endParaRPr dirty="0"/>
          </a:p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8108"/>
              <a:buChar char="•"/>
            </a:pPr>
            <a:r>
              <a:rPr lang="en-US" dirty="0"/>
              <a:t>Three WPPL experts (two women, one man)</a:t>
            </a:r>
            <a:endParaRPr dirty="0"/>
          </a:p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8108"/>
              <a:buChar char="•"/>
            </a:pPr>
            <a:r>
              <a:rPr lang="en-US" dirty="0"/>
              <a:t>Six women civil society and media representatives</a:t>
            </a:r>
            <a:endParaRPr dirty="0"/>
          </a:p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8108"/>
              <a:buChar char="•"/>
            </a:pPr>
            <a:r>
              <a:rPr lang="en-US" dirty="0"/>
              <a:t>One man religious leader</a:t>
            </a:r>
            <a:endParaRPr dirty="0"/>
          </a:p>
          <a:p>
            <a:pPr marL="10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endParaRPr dirty="0"/>
          </a:p>
        </p:txBody>
      </p:sp>
      <p:sp>
        <p:nvSpPr>
          <p:cNvPr id="225" name="Google Shape;225;g540cd75bd0_0_15"/>
          <p:cNvSpPr txBox="1">
            <a:spLocks noGrp="1"/>
          </p:cNvSpPr>
          <p:nvPr>
            <p:ph type="title"/>
          </p:nvPr>
        </p:nvSpPr>
        <p:spPr>
          <a:xfrm>
            <a:off x="4976164" y="848420"/>
            <a:ext cx="365252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</a:pPr>
            <a:r>
              <a:rPr lang="en-US"/>
              <a:t>METHODOLOGY</a:t>
            </a:r>
            <a:endParaRPr/>
          </a:p>
        </p:txBody>
      </p:sp>
      <p:sp>
        <p:nvSpPr>
          <p:cNvPr id="226" name="Google Shape;226;g540cd75bd0_0_15"/>
          <p:cNvSpPr txBox="1"/>
          <p:nvPr/>
        </p:nvSpPr>
        <p:spPr>
          <a:xfrm>
            <a:off x="330200" y="6121667"/>
            <a:ext cx="4216400" cy="439591"/>
          </a:xfrm>
          <a:prstGeom prst="rect">
            <a:avLst/>
          </a:prstGeom>
          <a:solidFill>
            <a:srgbClr val="262626">
              <a:alpha val="74509"/>
            </a:srgbClr>
          </a:solidFill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 young woman voting in the 2023 local elections</a:t>
            </a:r>
            <a:r>
              <a:rPr lang="en-US" i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1400" b="0" i="1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(USAID/Côte d’Ivoire).</a:t>
            </a:r>
            <a:endParaRPr sz="1400" b="0" i="1" u="none" strike="noStrike" cap="none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6209d6856c_0_0"/>
          <p:cNvSpPr txBox="1">
            <a:spLocks noGrp="1"/>
          </p:cNvSpPr>
          <p:nvPr>
            <p:ph type="body" idx="2"/>
          </p:nvPr>
        </p:nvSpPr>
        <p:spPr>
          <a:xfrm>
            <a:off x="839889" y="607520"/>
            <a:ext cx="7463916" cy="502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 fontScale="92500"/>
          </a:bodyPr>
          <a:lstStyle/>
          <a:p>
            <a:pPr marL="101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220"/>
              <a:buNone/>
            </a:pPr>
            <a:r>
              <a:rPr lang="en-US"/>
              <a:t>METHODOLOGY—FOCUS GROUP DISCUSSIONS</a:t>
            </a:r>
            <a:endParaRPr/>
          </a:p>
        </p:txBody>
      </p:sp>
      <p:graphicFrame>
        <p:nvGraphicFramePr>
          <p:cNvPr id="233" name="Google Shape;233;g26209d6856c_0_0"/>
          <p:cNvGraphicFramePr/>
          <p:nvPr/>
        </p:nvGraphicFramePr>
        <p:xfrm>
          <a:off x="993979" y="1292567"/>
          <a:ext cx="7155750" cy="5122855"/>
        </p:xfrm>
        <a:graphic>
          <a:graphicData uri="http://schemas.openxmlformats.org/drawingml/2006/table">
            <a:tbl>
              <a:tblPr firstRow="1" bandRow="1">
                <a:noFill/>
                <a:tableStyleId>{8D5FECD8-29EC-41E1-997D-B701DC29A0F8}</a:tableStyleId>
              </a:tblPr>
              <a:tblGrid>
                <a:gridCol w="134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LOCATION</a:t>
                      </a:r>
                      <a:endParaRPr/>
                    </a:p>
                  </a:txBody>
                  <a:tcPr marL="100975" marR="100975" marT="50500" marB="505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GROUP DESCRIPTION</a:t>
                      </a:r>
                      <a:endParaRPr/>
                    </a:p>
                  </a:txBody>
                  <a:tcPr marL="100975" marR="100975" marT="50500" marB="505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NO. OF FGDS</a:t>
                      </a:r>
                      <a:endParaRPr/>
                    </a:p>
                  </a:txBody>
                  <a:tcPr marL="100975" marR="100975" marT="50500" marB="505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Abidjan</a:t>
                      </a:r>
                      <a:endParaRPr/>
                    </a:p>
                  </a:txBody>
                  <a:tcPr marL="100975" marR="100975" marT="50500" marB="505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Char char="•"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Women in Political Parties and Locally Elected Women (RHDP)</a:t>
                      </a:r>
                      <a:endParaRPr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Char char="•"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Women in Political Parties and Locally Elected Women (PPA-CI)</a:t>
                      </a:r>
                      <a:endParaRPr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Char char="•"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Women in Political Parties and Locally Elected Women (PDCI-RDA)</a:t>
                      </a:r>
                      <a:endParaRPr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Char char="•"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Men in Political Parties and Locally Elected Men (RHDP)</a:t>
                      </a:r>
                      <a:endParaRPr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Char char="•"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Men in Political Parties and Locally Elected Men (PPA-CI)</a:t>
                      </a:r>
                      <a:endParaRPr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Char char="•"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Men in Political Parties and Locally Elected Men (PDCI-RDA)</a:t>
                      </a:r>
                      <a:endParaRPr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Char char="•"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Women Media Workers</a:t>
                      </a:r>
                      <a:endParaRPr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Char char="•"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Men Media Workers</a:t>
                      </a:r>
                      <a:endParaRPr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Char char="•"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Women in Civil Society</a:t>
                      </a:r>
                      <a:endParaRPr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Char char="•"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Men in Civil Society</a:t>
                      </a:r>
                      <a:endParaRPr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Char char="•"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USAID and Embassy</a:t>
                      </a:r>
                      <a:endParaRPr/>
                    </a:p>
                  </a:txBody>
                  <a:tcPr marL="100975" marR="100975" marT="50500" marB="505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11</a:t>
                      </a:r>
                      <a:endParaRPr/>
                    </a:p>
                  </a:txBody>
                  <a:tcPr marL="100975" marR="100975" marT="50500" marB="505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Bouaké</a:t>
                      </a:r>
                      <a:endParaRPr sz="1050" u="none" strike="noStrike" cap="none">
                        <a:solidFill>
                          <a:srgbClr val="595959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100975" marR="100975" marT="50500" marB="505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Char char="•"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Women in Civil Society</a:t>
                      </a:r>
                      <a:endParaRPr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Char char="•"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Men in Civil Society</a:t>
                      </a:r>
                      <a:endParaRPr/>
                    </a:p>
                  </a:txBody>
                  <a:tcPr marL="100975" marR="100975" marT="50500" marB="505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2</a:t>
                      </a:r>
                      <a:endParaRPr/>
                    </a:p>
                  </a:txBody>
                  <a:tcPr marL="100975" marR="100975" marT="50500" marB="505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Man</a:t>
                      </a:r>
                      <a:endParaRPr/>
                    </a:p>
                  </a:txBody>
                  <a:tcPr marL="100975" marR="100975" marT="50500" marB="505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Char char="•"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Women in Civil Society (2)</a:t>
                      </a:r>
                      <a:endParaRPr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Char char="•"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Men in Civil Society (2)</a:t>
                      </a:r>
                      <a:endParaRPr/>
                    </a:p>
                  </a:txBody>
                  <a:tcPr marL="100975" marR="100975" marT="50500" marB="505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4</a:t>
                      </a:r>
                      <a:endParaRPr/>
                    </a:p>
                  </a:txBody>
                  <a:tcPr marL="100975" marR="100975" marT="50500" marB="505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Korhogo</a:t>
                      </a:r>
                      <a:endParaRPr sz="1050" u="none" strike="noStrike" cap="none">
                        <a:solidFill>
                          <a:srgbClr val="595959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100975" marR="100975" marT="50500" marB="505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Char char="•"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Women in Civil Society (2)</a:t>
                      </a:r>
                      <a:endParaRPr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Char char="•"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Women in Political Parties and Locally Elected</a:t>
                      </a:r>
                      <a:endParaRPr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Char char="•"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Men in Civil Society</a:t>
                      </a:r>
                      <a:endParaRPr/>
                    </a:p>
                  </a:txBody>
                  <a:tcPr marL="100975" marR="100975" marT="50500" marB="505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4</a:t>
                      </a:r>
                      <a:endParaRPr/>
                    </a:p>
                  </a:txBody>
                  <a:tcPr marL="100975" marR="100975" marT="50500" marB="505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Abengourou</a:t>
                      </a:r>
                      <a:endParaRPr sz="1050" u="none" strike="noStrike" cap="none">
                        <a:solidFill>
                          <a:srgbClr val="595959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100975" marR="100975" marT="50500" marB="505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Char char="•"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Women in Civil Society (2)</a:t>
                      </a:r>
                      <a:endParaRPr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Char char="•"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Men in Civil Society (2)</a:t>
                      </a:r>
                      <a:endParaRPr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Char char="•"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Media Worker</a:t>
                      </a:r>
                      <a:endParaRPr/>
                    </a:p>
                  </a:txBody>
                  <a:tcPr marL="100975" marR="100975" marT="50500" marB="505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5</a:t>
                      </a:r>
                      <a:endParaRPr/>
                    </a:p>
                  </a:txBody>
                  <a:tcPr marL="100975" marR="100975" marT="50500" marB="505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Gagnoa</a:t>
                      </a:r>
                      <a:endParaRPr sz="1050" u="none" strike="noStrike" cap="none">
                        <a:solidFill>
                          <a:srgbClr val="595959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100975" marR="100975" marT="50500" marB="505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Char char="•"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Men in Civil Society</a:t>
                      </a:r>
                      <a:endParaRPr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Char char="•"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Women in Civil Society</a:t>
                      </a:r>
                      <a:endParaRPr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Char char="•"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Media Worker</a:t>
                      </a:r>
                      <a:endParaRPr/>
                    </a:p>
                  </a:txBody>
                  <a:tcPr marL="100975" marR="100975" marT="50500" marB="505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3</a:t>
                      </a:r>
                      <a:endParaRPr/>
                    </a:p>
                  </a:txBody>
                  <a:tcPr marL="100975" marR="100975" marT="50500" marB="505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6209d6856c_0_7"/>
          <p:cNvSpPr txBox="1">
            <a:spLocks noGrp="1"/>
          </p:cNvSpPr>
          <p:nvPr>
            <p:ph type="body" idx="2"/>
          </p:nvPr>
        </p:nvSpPr>
        <p:spPr>
          <a:xfrm>
            <a:off x="2410933" y="628786"/>
            <a:ext cx="4322135" cy="502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101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600"/>
              <a:t>METHODOLOGY—SURVEY</a:t>
            </a:r>
            <a:endParaRPr/>
          </a:p>
        </p:txBody>
      </p:sp>
      <p:graphicFrame>
        <p:nvGraphicFramePr>
          <p:cNvPr id="240" name="Google Shape;240;g26209d6856c_0_7"/>
          <p:cNvGraphicFramePr/>
          <p:nvPr/>
        </p:nvGraphicFramePr>
        <p:xfrm>
          <a:off x="2080437" y="1339703"/>
          <a:ext cx="4983125" cy="2183675"/>
        </p:xfrm>
        <a:graphic>
          <a:graphicData uri="http://schemas.openxmlformats.org/drawingml/2006/table">
            <a:tbl>
              <a:tblPr firstRow="1" bandRow="1">
                <a:noFill/>
                <a:tableStyleId>{8D5FECD8-29EC-41E1-997D-B701DC29A0F8}</a:tableStyleId>
              </a:tblPr>
              <a:tblGrid>
                <a:gridCol w="227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8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POLITICAL PARTY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NO. OF SURVEYS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RHDP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3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10 women politicians</a:t>
                      </a:r>
                      <a:endParaRPr/>
                    </a:p>
                    <a:p>
                      <a:pPr marL="285750" marR="0" lvl="3" indent="-285750" algn="l" rtl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10 men politicians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PDCI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3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10 women politicians</a:t>
                      </a:r>
                      <a:endParaRPr/>
                    </a:p>
                    <a:p>
                      <a:pPr marL="285750" marR="0" lvl="3" indent="-285750" algn="l" rtl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10 men politicians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PPA-CI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3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10 women politicians</a:t>
                      </a:r>
                      <a:endParaRPr/>
                    </a:p>
                    <a:p>
                      <a:pPr marL="285750" marR="0" lvl="3" indent="-285750" algn="l" rtl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10 men politicians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2"/>
          <p:cNvSpPr txBox="1">
            <a:spLocks noGrp="1"/>
          </p:cNvSpPr>
          <p:nvPr>
            <p:ph type="title"/>
          </p:nvPr>
        </p:nvSpPr>
        <p:spPr>
          <a:xfrm>
            <a:off x="686104" y="1082102"/>
            <a:ext cx="7772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BARRIERS &amp; OPPORTUNITIES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3"/>
          <p:cNvSpPr txBox="1">
            <a:spLocks noGrp="1"/>
          </p:cNvSpPr>
          <p:nvPr>
            <p:ph type="body" idx="1"/>
          </p:nvPr>
        </p:nvSpPr>
        <p:spPr>
          <a:xfrm>
            <a:off x="685800" y="1300480"/>
            <a:ext cx="7772096" cy="490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 b="1"/>
              <a:t>Barriers</a:t>
            </a:r>
            <a:endParaRPr/>
          </a:p>
          <a:p>
            <a:pPr marL="91440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Patriarchal norms and attitudes</a:t>
            </a:r>
            <a:endParaRPr/>
          </a:p>
          <a:p>
            <a:pPr marL="91440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Sociocultural norms</a:t>
            </a:r>
            <a:endParaRPr/>
          </a:p>
          <a:p>
            <a:pPr marL="91440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Marital status</a:t>
            </a:r>
            <a:endParaRPr/>
          </a:p>
          <a:p>
            <a:pPr marL="91440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Intimidation, threats, and violence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251" name="Google Shape;251;p43"/>
          <p:cNvSpPr txBox="1">
            <a:spLocks noGrp="1"/>
          </p:cNvSpPr>
          <p:nvPr>
            <p:ph type="body" idx="2"/>
          </p:nvPr>
        </p:nvSpPr>
        <p:spPr>
          <a:xfrm>
            <a:off x="685800" y="869058"/>
            <a:ext cx="7772096" cy="502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 lnSpcReduction="10000"/>
          </a:bodyPr>
          <a:lstStyle/>
          <a:p>
            <a:pPr marL="101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SOCIOCULTURAL FACTORS</a:t>
            </a:r>
            <a:endParaRPr/>
          </a:p>
        </p:txBody>
      </p:sp>
      <p:sp>
        <p:nvSpPr>
          <p:cNvPr id="252" name="Google Shape;252;p43"/>
          <p:cNvSpPr txBox="1"/>
          <p:nvPr/>
        </p:nvSpPr>
        <p:spPr>
          <a:xfrm>
            <a:off x="1171604" y="3723522"/>
            <a:ext cx="69174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67B9"/>
                </a:solidFill>
                <a:latin typeface="Gill Sans"/>
                <a:ea typeface="Gill Sans"/>
                <a:cs typeface="Gill Sans"/>
                <a:sym typeface="Gill Sans"/>
              </a:rPr>
              <a:t>"Men are still in the past; they want us to be traditional, whereas the </a:t>
            </a:r>
            <a:r>
              <a:rPr lang="en-US" sz="2000" b="0" i="0" u="none" strike="noStrike" cap="none">
                <a:solidFill>
                  <a:srgbClr val="0167B9"/>
                </a:solidFill>
                <a:latin typeface="Gill Sans"/>
                <a:ea typeface="Gill Sans"/>
                <a:cs typeface="Gill Sans"/>
                <a:sym typeface="Gill Sans"/>
              </a:rPr>
              <a:t>world has moved on...that's why, for several years now, they've been doing everything they can to prevent me from being section secretary for my party in this village.’’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167B9"/>
                </a:solidFill>
                <a:latin typeface="Gill Sans"/>
                <a:ea typeface="Gill Sans"/>
                <a:cs typeface="Gill Sans"/>
                <a:sym typeface="Gill Sans"/>
              </a:rPr>
              <a:t>(Focus group discussion with women in civil society)</a:t>
            </a:r>
            <a:endParaRPr sz="2000" b="1" i="0" u="none" strike="noStrike" cap="none">
              <a:solidFill>
                <a:srgbClr val="0167B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9b71a431dc_0_1"/>
          <p:cNvSpPr txBox="1">
            <a:spLocks noGrp="1"/>
          </p:cNvSpPr>
          <p:nvPr>
            <p:ph type="body" idx="1"/>
          </p:nvPr>
        </p:nvSpPr>
        <p:spPr>
          <a:xfrm>
            <a:off x="418094" y="1477169"/>
            <a:ext cx="4484105" cy="490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 b="1"/>
              <a:t>Barriers</a:t>
            </a:r>
            <a:endParaRPr/>
          </a:p>
          <a:p>
            <a:pPr marL="91440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Enforcement capacity and legislation</a:t>
            </a:r>
            <a:endParaRPr/>
          </a:p>
          <a:p>
            <a:pPr marL="91440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Logistical barriers</a:t>
            </a:r>
            <a:endParaRPr/>
          </a:p>
          <a:p>
            <a:pPr marL="91440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Violence in political parties</a:t>
            </a:r>
            <a:endParaRPr/>
          </a:p>
          <a:p>
            <a:pPr marL="91440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Candidate selection processes</a:t>
            </a:r>
            <a:endParaRPr/>
          </a:p>
          <a:p>
            <a:pPr marL="91440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Parties’ support for women candidates</a:t>
            </a:r>
            <a:endParaRPr/>
          </a:p>
          <a:p>
            <a:pPr marL="91440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Parties’ efforts to advance WPPL</a:t>
            </a:r>
            <a:endParaRPr/>
          </a:p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 b="1"/>
              <a:t>Opportunities</a:t>
            </a:r>
            <a:endParaRPr/>
          </a:p>
          <a:p>
            <a:pPr marL="91440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Quota law</a:t>
            </a:r>
            <a:endParaRPr/>
          </a:p>
          <a:p>
            <a:pPr marL="91440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Laws on violence against women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259" name="Google Shape;259;g29b71a431dc_0_1"/>
          <p:cNvSpPr txBox="1">
            <a:spLocks noGrp="1"/>
          </p:cNvSpPr>
          <p:nvPr>
            <p:ph type="body" idx="2"/>
          </p:nvPr>
        </p:nvSpPr>
        <p:spPr>
          <a:xfrm>
            <a:off x="418095" y="1098743"/>
            <a:ext cx="7772400" cy="50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 lnSpcReduction="10000"/>
          </a:bodyPr>
          <a:lstStyle/>
          <a:p>
            <a:pPr marL="101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INSTITUTIONAL FACTORS</a:t>
            </a:r>
            <a:endParaRPr/>
          </a:p>
        </p:txBody>
      </p:sp>
      <p:pic>
        <p:nvPicPr>
          <p:cNvPr id="260" name="Google Shape;260;g29b71a431dc_0_1" descr="A group of people holding up ca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18211" t="-138" r="43203" b="137"/>
          <a:stretch/>
        </p:blipFill>
        <p:spPr>
          <a:xfrm>
            <a:off x="5156200" y="300264"/>
            <a:ext cx="3683000" cy="624023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29b71a431dc_0_1"/>
          <p:cNvSpPr txBox="1"/>
          <p:nvPr/>
        </p:nvSpPr>
        <p:spPr>
          <a:xfrm>
            <a:off x="5156198" y="5881037"/>
            <a:ext cx="3683001" cy="659464"/>
          </a:xfrm>
          <a:prstGeom prst="rect">
            <a:avLst/>
          </a:prstGeom>
          <a:solidFill>
            <a:srgbClr val="262626">
              <a:alpha val="74509"/>
            </a:srgbClr>
          </a:solidFill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Group of youth who were working to </a:t>
            </a:r>
            <a:br>
              <a:rPr lang="en-US" sz="1400" b="0" i="1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lang="en-US" sz="1400" b="0" i="1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combat hate speech (USAID/Côte d’Ivoire).</a:t>
            </a:r>
            <a:endParaRPr sz="1400" b="0" i="1" u="none" strike="noStrike" cap="none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9b6a319265_0_8"/>
          <p:cNvSpPr txBox="1">
            <a:spLocks noGrp="1"/>
          </p:cNvSpPr>
          <p:nvPr>
            <p:ph type="body" idx="1"/>
          </p:nvPr>
        </p:nvSpPr>
        <p:spPr>
          <a:xfrm>
            <a:off x="418095" y="1530543"/>
            <a:ext cx="3769242" cy="490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 b="1" dirty="0"/>
              <a:t>Barriers</a:t>
            </a:r>
            <a:endParaRPr dirty="0"/>
          </a:p>
          <a:p>
            <a:pPr marL="91440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 dirty="0"/>
              <a:t>Confidence and political awareness</a:t>
            </a:r>
            <a:endParaRPr dirty="0"/>
          </a:p>
          <a:p>
            <a:pPr marL="91440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 dirty="0"/>
              <a:t>Political violence</a:t>
            </a:r>
            <a:endParaRPr dirty="0"/>
          </a:p>
          <a:p>
            <a:pPr marL="91440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 dirty="0"/>
              <a:t>Educational attainment and training</a:t>
            </a:r>
            <a:endParaRPr dirty="0"/>
          </a:p>
          <a:p>
            <a:pPr marL="91440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 dirty="0"/>
              <a:t>Personal financial means</a:t>
            </a:r>
            <a:endParaRPr dirty="0"/>
          </a:p>
          <a:p>
            <a:pPr marL="91440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 dirty="0"/>
              <a:t>Domestic responsibilities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  <p:sp>
        <p:nvSpPr>
          <p:cNvPr id="268" name="Google Shape;268;g29b6a319265_0_8"/>
          <p:cNvSpPr txBox="1">
            <a:spLocks noGrp="1"/>
          </p:cNvSpPr>
          <p:nvPr>
            <p:ph type="body" idx="2"/>
          </p:nvPr>
        </p:nvSpPr>
        <p:spPr>
          <a:xfrm>
            <a:off x="418095" y="1099438"/>
            <a:ext cx="7772096" cy="502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 lnSpcReduction="10000"/>
          </a:bodyPr>
          <a:lstStyle/>
          <a:p>
            <a:pPr marL="101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INDIVIDUAL FACTORS</a:t>
            </a:r>
            <a:endParaRPr/>
          </a:p>
        </p:txBody>
      </p:sp>
      <p:grpSp>
        <p:nvGrpSpPr>
          <p:cNvPr id="269" name="Google Shape;269;g29b6a319265_0_8"/>
          <p:cNvGrpSpPr/>
          <p:nvPr/>
        </p:nvGrpSpPr>
        <p:grpSpPr>
          <a:xfrm>
            <a:off x="4502150" y="355600"/>
            <a:ext cx="4327302" cy="6175801"/>
            <a:chOff x="4540250" y="355600"/>
            <a:chExt cx="4327302" cy="6175801"/>
          </a:xfrm>
        </p:grpSpPr>
        <p:sp>
          <p:nvSpPr>
            <p:cNvPr id="270" name="Google Shape;270;g29b6a319265_0_8"/>
            <p:cNvSpPr/>
            <p:nvPr/>
          </p:nvSpPr>
          <p:spPr>
            <a:xfrm>
              <a:off x="4540250" y="355600"/>
              <a:ext cx="4327302" cy="617580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1" name="Google Shape;271;g29b6a319265_0_8"/>
            <p:cNvPicPr preferRelativeResize="0"/>
            <p:nvPr/>
          </p:nvPicPr>
          <p:blipFill>
            <a:blip r:embed="rId3"/>
            <a:srcRect/>
            <a:stretch/>
          </p:blipFill>
          <p:spPr>
            <a:xfrm>
              <a:off x="4634773" y="449496"/>
              <a:ext cx="4129231" cy="598800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6"/>
          <p:cNvSpPr txBox="1">
            <a:spLocks noGrp="1"/>
          </p:cNvSpPr>
          <p:nvPr>
            <p:ph type="title"/>
          </p:nvPr>
        </p:nvSpPr>
        <p:spPr>
          <a:xfrm>
            <a:off x="686104" y="1082102"/>
            <a:ext cx="777240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SELECTED RECOMMENDATIONS</a:t>
            </a:r>
            <a:br>
              <a:rPr lang="en-US" dirty="0"/>
            </a:br>
            <a:r>
              <a:rPr lang="en-US" dirty="0"/>
              <a:t>	</a:t>
            </a:r>
            <a:br>
              <a:rPr lang="en-US" dirty="0"/>
            </a:br>
            <a:br>
              <a:rPr lang="en-US" dirty="0"/>
            </a:b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a9c78ce03a_0_7"/>
          <p:cNvSpPr txBox="1">
            <a:spLocks noGrp="1"/>
          </p:cNvSpPr>
          <p:nvPr>
            <p:ph type="body" idx="1"/>
          </p:nvPr>
        </p:nvSpPr>
        <p:spPr>
          <a:xfrm>
            <a:off x="685800" y="1300163"/>
            <a:ext cx="7772400" cy="2464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Gender transformative education programs</a:t>
            </a:r>
            <a:endParaRPr/>
          </a:p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Mobilize influential men and women</a:t>
            </a:r>
            <a:endParaRPr/>
          </a:p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Cultivate a culture of equality</a:t>
            </a:r>
            <a:endParaRPr/>
          </a:p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Women leaders as role models</a:t>
            </a:r>
            <a:endParaRPr/>
          </a:p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Address sociocultural factors</a:t>
            </a:r>
            <a:endParaRPr/>
          </a:p>
        </p:txBody>
      </p:sp>
      <p:sp>
        <p:nvSpPr>
          <p:cNvPr id="283" name="Google Shape;283;ga9c78ce03a_0_7"/>
          <p:cNvSpPr txBox="1">
            <a:spLocks noGrp="1"/>
          </p:cNvSpPr>
          <p:nvPr>
            <p:ph type="body" idx="2"/>
          </p:nvPr>
        </p:nvSpPr>
        <p:spPr>
          <a:xfrm>
            <a:off x="685800" y="869058"/>
            <a:ext cx="7772096" cy="502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 lnSpcReduction="10000"/>
          </a:bodyPr>
          <a:lstStyle/>
          <a:p>
            <a:pPr marL="101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SOCIOCULTURAL</a:t>
            </a:r>
            <a:endParaRPr/>
          </a:p>
        </p:txBody>
      </p:sp>
      <p:sp>
        <p:nvSpPr>
          <p:cNvPr id="284" name="Google Shape;284;ga9c78ce03a_0_7"/>
          <p:cNvSpPr txBox="1"/>
          <p:nvPr/>
        </p:nvSpPr>
        <p:spPr>
          <a:xfrm>
            <a:off x="717698" y="3592678"/>
            <a:ext cx="7329677" cy="15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>
                <a:solidFill>
                  <a:srgbClr val="0067B9"/>
                </a:solidFill>
                <a:latin typeface="Gill Sans"/>
                <a:ea typeface="Gill Sans"/>
                <a:cs typeface="Gill Sans"/>
                <a:sym typeface="Gill Sans"/>
              </a:rPr>
              <a:t>“There are women who fight. There are women who are ready for anything. With their limited means, they’re ready to go meet with the population because they have a chance to convince electors and see the work they’ve done. </a:t>
            </a:r>
            <a:r>
              <a:rPr lang="en-US" sz="1800" b="0" i="0" u="none" strike="noStrike" cap="none">
                <a:solidFill>
                  <a:srgbClr val="0167B9"/>
                </a:solidFill>
                <a:latin typeface="Gill Sans"/>
                <a:ea typeface="Gill Sans"/>
                <a:cs typeface="Gill Sans"/>
                <a:sym typeface="Gill Sans"/>
              </a:rPr>
              <a:t>And these people then won’t hesitate to go out and vote. Yes, we have seen cases like that. Women who started from nothing, who had only a primary school education, but who became members of parliament, beating doctors and academics.”</a:t>
            </a:r>
            <a:br>
              <a:rPr lang="en-US" sz="1800" b="0" i="0" u="none" strike="noStrike" cap="none">
                <a:solidFill>
                  <a:srgbClr val="0167B9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lang="en-US" sz="1800" b="1" i="0" u="none" strike="noStrike" cap="none">
                <a:solidFill>
                  <a:srgbClr val="0167B9"/>
                </a:solidFill>
                <a:latin typeface="Gill Sans"/>
                <a:ea typeface="Gill Sans"/>
                <a:cs typeface="Gill Sans"/>
                <a:sym typeface="Gill Sans"/>
              </a:rPr>
              <a:t> (Focus group discussion with women in civil society, Bouaké)</a:t>
            </a:r>
            <a:endParaRPr sz="1800" b="1" i="0" u="none" strike="noStrike" cap="none">
              <a:solidFill>
                <a:srgbClr val="0167B9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635C5B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7"/>
          <p:cNvSpPr txBox="1">
            <a:spLocks noGrp="1"/>
          </p:cNvSpPr>
          <p:nvPr>
            <p:ph type="body" idx="1"/>
          </p:nvPr>
        </p:nvSpPr>
        <p:spPr>
          <a:xfrm>
            <a:off x="685800" y="1300480"/>
            <a:ext cx="7772096" cy="490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Strengthen the CEI gender unit</a:t>
            </a:r>
            <a:endParaRPr/>
          </a:p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Reduce logistical barriers</a:t>
            </a:r>
            <a:endParaRPr/>
          </a:p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Women’s involvement in local-level decision-making</a:t>
            </a:r>
            <a:endParaRPr/>
          </a:p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Enforce the 2019 gender quota law</a:t>
            </a:r>
            <a:endParaRPr/>
          </a:p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Complementary gender quota law</a:t>
            </a:r>
            <a:endParaRPr/>
          </a:p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Legislation to address political violence</a:t>
            </a:r>
            <a:endParaRPr/>
          </a:p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Women’s leadership in party structures</a:t>
            </a:r>
            <a:endParaRPr/>
          </a:p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Improve data and reporting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291" name="Google Shape;291;p47"/>
          <p:cNvSpPr txBox="1">
            <a:spLocks noGrp="1"/>
          </p:cNvSpPr>
          <p:nvPr>
            <p:ph type="body" idx="2"/>
          </p:nvPr>
        </p:nvSpPr>
        <p:spPr>
          <a:xfrm>
            <a:off x="685800" y="869058"/>
            <a:ext cx="7772096" cy="502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 lnSpcReduction="10000"/>
          </a:bodyPr>
          <a:lstStyle/>
          <a:p>
            <a:pPr marL="101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INSTITUTIONAL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9b6a319265_0_22"/>
          <p:cNvSpPr txBox="1">
            <a:spLocks noGrp="1"/>
          </p:cNvSpPr>
          <p:nvPr>
            <p:ph type="body" idx="1"/>
          </p:nvPr>
        </p:nvSpPr>
        <p:spPr>
          <a:xfrm>
            <a:off x="685800" y="1058863"/>
            <a:ext cx="7772400" cy="3157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Foster solidarity</a:t>
            </a:r>
            <a:endParaRPr/>
          </a:p>
          <a:p>
            <a:pPr marL="45720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Women’s civic education</a:t>
            </a:r>
            <a:endParaRPr/>
          </a:p>
          <a:p>
            <a:pPr marL="45720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Literacy and education for girls and women</a:t>
            </a:r>
            <a:endParaRPr/>
          </a:p>
          <a:p>
            <a:pPr marL="45720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Women’s earnings and wealth equality</a:t>
            </a:r>
            <a:endParaRPr/>
          </a:p>
          <a:p>
            <a:pPr marL="45720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Capacity of women candidates</a:t>
            </a:r>
            <a:endParaRPr/>
          </a:p>
          <a:p>
            <a:pPr marL="45720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Mentorship program for women political candidates</a:t>
            </a:r>
            <a:endParaRPr/>
          </a:p>
        </p:txBody>
      </p:sp>
      <p:sp>
        <p:nvSpPr>
          <p:cNvPr id="298" name="Google Shape;298;g29b6a319265_0_22"/>
          <p:cNvSpPr txBox="1">
            <a:spLocks noGrp="1"/>
          </p:cNvSpPr>
          <p:nvPr>
            <p:ph type="body" idx="2"/>
          </p:nvPr>
        </p:nvSpPr>
        <p:spPr>
          <a:xfrm>
            <a:off x="685800" y="627063"/>
            <a:ext cx="7772400" cy="50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 lnSpcReduction="10000"/>
          </a:bodyPr>
          <a:lstStyle/>
          <a:p>
            <a:pPr marL="101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INDIVIDUAL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"/>
          <p:cNvSpPr txBox="1">
            <a:spLocks noGrp="1"/>
          </p:cNvSpPr>
          <p:nvPr>
            <p:ph type="title"/>
          </p:nvPr>
        </p:nvSpPr>
        <p:spPr>
          <a:xfrm>
            <a:off x="686104" y="1082102"/>
            <a:ext cx="7772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</a:pPr>
            <a:r>
              <a:rPr lang="en-US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.3-Template_12.7.2016">
  <a:themeElements>
    <a:clrScheme name="Custom 2">
      <a:dk1>
        <a:srgbClr val="000000"/>
      </a:dk1>
      <a:lt1>
        <a:srgbClr val="FFFFFF"/>
      </a:lt1>
      <a:dk2>
        <a:srgbClr val="002F6C"/>
      </a:dk2>
      <a:lt2>
        <a:srgbClr val="BA0C2F"/>
      </a:lt2>
      <a:accent1>
        <a:srgbClr val="002F6C"/>
      </a:accent1>
      <a:accent2>
        <a:srgbClr val="BA0C2F"/>
      </a:accent2>
      <a:accent3>
        <a:srgbClr val="6C6463"/>
      </a:accent3>
      <a:accent4>
        <a:srgbClr val="000000"/>
      </a:accent4>
      <a:accent5>
        <a:srgbClr val="CFCDC9"/>
      </a:accent5>
      <a:accent6>
        <a:srgbClr val="0067B9"/>
      </a:accent6>
      <a:hlink>
        <a:srgbClr val="6C6463"/>
      </a:hlink>
      <a:folHlink>
        <a:srgbClr val="CFCD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1115</TotalTime>
  <Words>811</Words>
  <Application>Microsoft Office PowerPoint</Application>
  <PresentationFormat>On-screen Show (4:3)</PresentationFormat>
  <Paragraphs>141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Gill Sans</vt:lpstr>
      <vt:lpstr>4.3-Template_12.7.2016</vt:lpstr>
      <vt:lpstr>WOMEN’S POLITICAL PARTICIPATION AND LEADERSHIP ASSESSMENT: CÔTE D’IVOIRE</vt:lpstr>
      <vt:lpstr>AGENDA</vt:lpstr>
      <vt:lpstr>PowerPoint Presentation</vt:lpstr>
      <vt:lpstr>METHODOLOGY</vt:lpstr>
      <vt:lpstr>PowerPoint Presentation</vt:lpstr>
      <vt:lpstr>PowerPoint Presentation</vt:lpstr>
      <vt:lpstr>BARRIERS &amp; OPPORTUNITIES</vt:lpstr>
      <vt:lpstr>PowerPoint Presentation</vt:lpstr>
      <vt:lpstr>PowerPoint Presentation</vt:lpstr>
      <vt:lpstr>PowerPoint Presentation</vt:lpstr>
      <vt:lpstr>SELECTED RECOMMENDATIONS    </vt:lpstr>
      <vt:lpstr>PowerPoint Presentation</vt:lpstr>
      <vt:lpstr>PowerPoint Presentation</vt:lpstr>
      <vt:lpstr>PowerPoint Presentation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WOMEN’S POLITICAL PARTICIPATION AND LEADERSHIP ASSESSMENT: CÔTE D’IVOIRE  </dc:title>
  <dc:creator>USAID</dc:creator>
  <cp:lastModifiedBy>Katie Andrzejewski</cp:lastModifiedBy>
  <cp:revision>7</cp:revision>
  <dcterms:created xsi:type="dcterms:W3CDTF">2017-03-16T17:46:58Z</dcterms:created>
  <dcterms:modified xsi:type="dcterms:W3CDTF">2024-01-01T23:49:47Z</dcterms:modified>
</cp:coreProperties>
</file>